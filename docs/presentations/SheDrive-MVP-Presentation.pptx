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1645920"/>
            <a:ext cx="5943600" cy="5943600"/>
          </a:xfrm>
          <a:prstGeom prst="ellipse">
            <a:avLst/>
          </a:prstGeom>
          <a:solidFill>
            <a:srgbClr val="6B2BD9">
              <a:alpha val="25000"/>
            </a:srgbClr>
          </a:solidFill>
          <a:ln w="12700">
            <a:solidFill>
              <a:srgbClr val="6B2BD9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1645920"/>
            <a:ext cx="3657600" cy="3657600"/>
          </a:xfrm>
          <a:prstGeom prst="ellipse">
            <a:avLst/>
          </a:prstGeom>
          <a:solidFill>
            <a:srgbClr val="D63AE2">
              <a:alpha val="20000"/>
            </a:srgbClr>
          </a:solidFill>
          <a:ln w="12700">
            <a:solidFill>
              <a:srgbClr val="D63AE2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17320"/>
            <a:ext cx="73152" cy="2286000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320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320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5943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Egypt's Women-Only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Ride-Hailing Platform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· Trust · Dignity — Built for Women, by Design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1480" y="3547872"/>
            <a:ext cx="1600200" cy="36576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478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RELEASE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41148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Cairo (Cairo + Giza)  ·  Daytime Operating Hours  ·  Phase 1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We're Solving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platforms are built for everyone — which means they're built for no one in particular.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0690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64008" cy="352044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44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2B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Female Riders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safety concerns — especially outside daylight hours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6243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assurance on driver identity or conduct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3282696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support when travelling with children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3941064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emergency mechanisms during a live trip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40690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325880"/>
            <a:ext cx="64008" cy="3520440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0328" y="1444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Female Drivers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10328" y="196596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Reluctance to operate in mixed-gender platforms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10328" y="26243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about passenger conduct and personal safety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10328" y="3282696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misaligned with cultural and family expectations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0328" y="3941064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women staying outside the ride-hailing economy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097280"/>
            <a:ext cx="5029200" cy="5029200"/>
          </a:xfrm>
          <a:prstGeom prst="ellipse">
            <a:avLst/>
          </a:prstGeom>
          <a:solidFill>
            <a:srgbClr val="6B2BD9">
              <a:alpha val="22000"/>
            </a:srgbClr>
          </a:solidFill>
          <a:ln w="12700">
            <a:solidFill>
              <a:srgbClr val="6B2BD9">
                <a:alpha val="22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Clear Market Gap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47472" y="1078992"/>
            <a:ext cx="2651760" cy="374904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6B2BD9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078992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207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12064" y="184708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Underserved Demand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239572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trips per month in Cairo — yet female riders consistently report safety and trust gaps on existing platforms.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27832" y="1078992"/>
            <a:ext cx="2651760" cy="374904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6B2BD9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27832" y="1078992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92424" y="1207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392424" y="184708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Constrained Supply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92424" y="239572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female drivers are willing to work but held back by mixed-gender environments that don't align with their needs.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08192" y="1078992"/>
            <a:ext cx="2651760" cy="374904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6B2BD9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08192" y="1078992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2784" y="1207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72784" y="184708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Purpose-Built Answer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2784" y="2395728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player in Egypt combines women-only eligibility, verified identity, child-ride support, and dual payment rails in one product.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SheDrive 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safety-first, women-only ride-hailing platform — verified, bilingual, and designed around how women in Egypt actually travel.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47472" y="1389888"/>
            <a:ext cx="406908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2064" y="1755648"/>
            <a:ext cx="475488" cy="475488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755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4712" y="1481328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Women-Only Ecosystem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4712" y="1892808"/>
            <a:ext cx="3127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riders and drivers are verified women. Eligibility is enforced from registration through every single trip — not a setting,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36592" y="1389888"/>
            <a:ext cx="406908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01184" y="1755648"/>
            <a:ext cx="475488" cy="47548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01184" y="1755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513832" y="1481328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Identities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13832" y="1892808"/>
            <a:ext cx="3127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ID OCR, liveness detection, face match, and background checks for every driver — completed before their first ride.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" y="2999232"/>
            <a:ext cx="406908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" y="3364992"/>
            <a:ext cx="475488" cy="475488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4712" y="3090672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Child-Friendly Rides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4712" y="3502152"/>
            <a:ext cx="3127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under 12 can travel with a declared female rider. Explicit policies and safety rules — not an afterthought.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36592" y="2999232"/>
            <a:ext cx="406908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01184" y="336499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364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$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13832" y="3090672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 + Digital Payments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513832" y="3502152"/>
            <a:ext cx="31272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both cash and digital card payments from day one — aligned with Cairo's real-world payment behaviour.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5029200" cy="5029200"/>
          </a:xfrm>
          <a:prstGeom prst="ellipse">
            <a:avLst/>
          </a:prstGeom>
          <a:solidFill>
            <a:srgbClr val="D63AE2">
              <a:alpha val="15000"/>
            </a:srgbClr>
          </a:solidFill>
          <a:ln w="12700">
            <a:solidFill>
              <a:srgbClr val="D63AE2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Is the Product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SheDrive's advantage is structural safety — not a feature checkbox.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389888"/>
            <a:ext cx="2651760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1389888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4632" y="1536192"/>
            <a:ext cx="109728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1536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In-Vehicle Cameras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" y="2487168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Dashcam footage accessible during emergencies. Active monitoring is validated and activated in Phase 2, once the operational infrastructure is in place.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27832" y="1389888"/>
            <a:ext cx="2651760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7832" y="1389888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4992" y="1536192"/>
            <a:ext cx="1097280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1536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64992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 Emergency Response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64992" y="2487168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SOS in both apps triggers an immediate Ops alert, automated data capture, and a structured escalation workflow through to external authorities.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64992" y="422452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Direct Ministry of Interior line: aspirational — manual Ops escalation at MVP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08192" y="1389888"/>
            <a:ext cx="2651760" cy="347472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08192" y="1389888"/>
            <a:ext cx="2651760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45352" y="1536192"/>
            <a:ext cx="1097280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45352" y="1536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45352" y="1920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First-Aid Trained Drivers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45352" y="2487168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onboarding includes a first-aid readiness requirement. Certification is tracked and verified before a driver is activated on the platform.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 Serve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914400"/>
            <a:ext cx="2697480" cy="64008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7592" y="1097280"/>
            <a:ext cx="731520" cy="73152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759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Female Riders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18+ · Egyptian National ID verified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1208" y="28346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rides with map-based pickup &amp; destination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with children under 12 (declared)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21208" y="360273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or digital card payment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" y="398678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trip sharing + trusted contacts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" y="4370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SOS with real-time Ops alert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9144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914400"/>
            <a:ext cx="2697480" cy="64008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87952" y="1097280"/>
            <a:ext cx="731520" cy="73152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8795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6499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Female Drivers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64992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63A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· Verified · Background-checked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01568" y="28346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Own-vehicle operation — no fleet dependency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1568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multi-step onboarding &amp; approval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01568" y="360273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dashboard + cash balance tracker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01568" y="398678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via deep-link to external maps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01568" y="4370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SOS on equal footing with riders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914400"/>
            <a:ext cx="26974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0760" y="914400"/>
            <a:ext cx="2697480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68312" y="1097280"/>
            <a:ext cx="731520" cy="73152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68312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⚙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45352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 &amp; Admin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45352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· Back-office control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81928" y="28346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ride monitoring + driver queue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81928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onboarding approval workflow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81928" y="360273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queue + escalation SLA tracking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81928" y="398678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reconciliation + manual refunds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81928" y="43708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Zone, pricing &amp; commission configuration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274320"/>
            <a:ext cx="3840480" cy="3840480"/>
          </a:xfrm>
          <a:prstGeom prst="ellipse">
            <a:avLst/>
          </a:prstGeom>
          <a:solidFill>
            <a:srgbClr val="6B2BD9">
              <a:alpha val="18000"/>
            </a:srgbClr>
          </a:solidFill>
          <a:ln w="12700">
            <a:solidFill>
              <a:srgbClr val="6B2BD9">
                <a:alpha val="1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Launch Footprint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47472" y="1078992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1078992"/>
            <a:ext cx="64008" cy="173736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88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Cairo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Cairo + Giza — neighborhood-level zone coverage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55264" y="1078992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55264" y="1078992"/>
            <a:ext cx="64008" cy="1737360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1188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3A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56432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Daytime Only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56432" y="2011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window TBD by Operations — 24/7 deferred to Phase 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078992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078992"/>
            <a:ext cx="64008" cy="1737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4224" y="11887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64224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Vehicle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4224" y="2011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does not own or lease vehicles — drivers use their own cars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7472" y="3017520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3017520"/>
            <a:ext cx="64008" cy="1737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1272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3429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Women 18+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8640" y="3950208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Egyptian National ID verified — children under 12 permitted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55264" y="3017520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55264" y="3017520"/>
            <a:ext cx="6400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31272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56432" y="3429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 + Card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456432" y="3950208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PSP for digital; cash via dual confirmation — wallets post-MVP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63056" y="3017520"/>
            <a:ext cx="2697480" cy="17373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017520"/>
            <a:ext cx="64008" cy="1737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4224" y="31272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64224" y="3429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Surfaces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364224" y="3950208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App · Driver App · Admin &amp; Operations Portal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Architecture — 10 Modules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64592" y="777240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2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SURFACES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164592" y="1033272"/>
            <a:ext cx="8823960" cy="0"/>
          </a:xfrm>
          <a:prstGeom prst="line">
            <a:avLst/>
          </a:prstGeom>
          <a:noFill/>
          <a:ln w="9525">
            <a:solidFill>
              <a:srgbClr val="6B2BD9">
                <a:alpha val="5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164592" y="2304288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63A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CAPABILITIES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64592" y="2560320"/>
            <a:ext cx="8823960" cy="0"/>
          </a:xfrm>
          <a:prstGeom prst="line">
            <a:avLst/>
          </a:prstGeom>
          <a:noFill/>
          <a:ln w="9525">
            <a:solidFill>
              <a:srgbClr val="D63AE2">
                <a:alpha val="55000"/>
              </a:srgbClr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164592" y="4187952"/>
            <a:ext cx="8869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" y="4443984"/>
            <a:ext cx="8823960" cy="0"/>
          </a:xfrm>
          <a:prstGeom prst="line">
            <a:avLst/>
          </a:prstGeom>
          <a:noFill/>
          <a:ln w="9525">
            <a:solidFill>
              <a:srgbClr val="0891B2">
                <a:alpha val="55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47472" y="1115568"/>
            <a:ext cx="2724912" cy="91440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" y="1115568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App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1115568"/>
            <a:ext cx="2724912" cy="91440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115568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6208" y="1115568"/>
            <a:ext cx="2724912" cy="91440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1115568"/>
            <a:ext cx="2724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&amp; Ops Portal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01168" y="2633472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AE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01168" y="2633472"/>
            <a:ext cx="1627632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2697480"/>
            <a:ext cx="1627632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75104" y="2633472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AE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75104" y="2633472"/>
            <a:ext cx="1627632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75104" y="2697480"/>
            <a:ext cx="1627632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+ Digital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49040" y="2633472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AE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49040" y="2633472"/>
            <a:ext cx="1627632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697480"/>
            <a:ext cx="1627632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&amp; Dispatch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22976" y="2633472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AE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22976" y="2633472"/>
            <a:ext cx="1627632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22976" y="2697480"/>
            <a:ext cx="1627632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96912" y="2633472"/>
            <a:ext cx="162763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AE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96912" y="2633472"/>
            <a:ext cx="1627632" cy="548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96912" y="2697480"/>
            <a:ext cx="1627632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719072" y="4315968"/>
            <a:ext cx="278892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719072" y="4315968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Notifications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965192" y="4315968"/>
            <a:ext cx="278892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965192" y="4315968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 &amp; Analytics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0"/>
            <a:ext cx="8458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 — Rider App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47472" y="841248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· Booking · Tracking · Payment · Safety · Feedback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371600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OTP registration &amp; login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1847088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ID + selfie identity verification (once, before first trip)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" y="2322576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Map-based pickup &amp; destination selection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2798064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estimate before confirming booking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7472" y="3273552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accompaniment declaration (under 12)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47472" y="3749040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selection — Cash or Digital card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" y="4224528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request submission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47472" y="4700016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driver tracking on map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1371600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communication — masked call / chat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0" y="1847088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cancellation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0" y="2322576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display + payment completion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754880" y="2798064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47488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&amp; feedback after trip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273552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47488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history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 ⇄  English language switch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754880" y="4224528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7488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trip sharing (shareable link)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754880" y="4700016"/>
            <a:ext cx="182880" cy="182880"/>
          </a:xfrm>
          <a:prstGeom prst="ellipse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contacts management + SOS button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0"/>
            <a:ext cx="8458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2 — Driver App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47472" y="841248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· Availability · Ride Handling · Earnings · Safety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371600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+ identity verification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1847088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license upload &amp; validation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" y="2322576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document submission (own vehicle)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2798064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check consent flow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7472" y="3273552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status tracker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47472" y="3749040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/ Offline availability toggle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" y="4224528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zone selection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47472" y="4700016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request handling — accept / decline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1371600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deep-link (Google / Apple Maps)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0" y="1847088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lifecycle controls — Arrived, Start, 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0" y="2322576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collection confirmation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754880" y="2798064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47488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payment status visibility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273552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47488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dashboard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balance ledger — amount owed to platform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754880" y="4224528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7488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rating view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754880" y="4700016"/>
            <a:ext cx="182880" cy="182880"/>
          </a:xfrm>
          <a:prstGeom prst="ellipse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communication + SOS button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0"/>
            <a:ext cx="8458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3 — Admin &amp; Operations Portal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47472" y="841248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· Support · Finance · Compliance — English UI (MVP)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371600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login + Role-Based Access Control (5 roles)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1847088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operational dashboard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" y="2322576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onboarding queue — review, approve, reject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2798064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&amp; driver account management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7472" y="3273552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ride monitoring (map + state)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47472" y="3749040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detail &amp; history search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" y="4224528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&amp; incident management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47472" y="4700016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queue + escalation workflow + SLA tracker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1371600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126187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Neighborhood / zone management (polygon editor)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754880" y="1847088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1737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rule configuration per zone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754880" y="2322576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221284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+ commission configuration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754880" y="2798064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47488" y="268833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reconciliation workflow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273552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47488" y="31638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refund processing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749040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47488" y="36393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management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754880" y="4224528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47488" y="4114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754880" y="4700016"/>
            <a:ext cx="182880" cy="1828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59028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template management (AR + EN)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 Capabilities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94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engines powering the ride cycle — invisible to users, critical to operations.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409651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15568"/>
            <a:ext cx="4096512" cy="64008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2B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&amp; Verification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91056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ID OCR + validity &amp; duplicate check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detection + face match (selfie vs ID)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&amp; gender eligibility enforcement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359152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+ vehicle document verification (drivers)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615184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check provider integration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115568"/>
            <a:ext cx="409651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115568"/>
            <a:ext cx="4096512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20700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Payments — Cash + Digital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591056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PSP + card tokenization + saved cards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47088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capture for digital trips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0312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recording via dual rider/driver confirmation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359152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cash balance ledger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2615184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calculation + cash settlement workflow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999232"/>
            <a:ext cx="409651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999232"/>
            <a:ext cx="4096512" cy="64008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906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 &amp; Dispatch Engine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347472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Driver–rider matching algorithm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730752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Zone-aware eligibility filtering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986784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with timeout + automatic reassignment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242816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state machine (7 states)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4498848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driver location streaming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2999232"/>
            <a:ext cx="409651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999232"/>
            <a:ext cx="4096512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0906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&amp; Neighborhood Zones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92040" y="347472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Polygon-based zone definition (map editor)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92040" y="3730752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Per-zone base fare / per-km / per-min rates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3986784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fare + zone-to-zone pricing rules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4242816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fee rules per zone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92040" y="4498848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rule versioning — audit trail + rollback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4572000" cy="4572000"/>
          </a:xfrm>
          <a:prstGeom prst="ellipse">
            <a:avLst/>
          </a:prstGeom>
          <a:solidFill>
            <a:srgbClr val="D63AE2">
              <a:alpha val="15000"/>
            </a:srgbClr>
          </a:solidFill>
          <a:ln w="12700">
            <a:solidFill>
              <a:srgbClr val="D63AE2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0"/>
            <a:ext cx="8458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8 — Safety &amp; 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is a first-class module — every feature is operationalised with defined SLAs and workflows.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389888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389888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81328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 Button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892808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both Rider and Driver apps. One tap triggers the full response chain automatically.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64408" y="1389888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64408" y="1389888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481328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Data Capture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65576" y="1892808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Location, trip snapshot, user &amp; vehicle details captured instantly on trigger — no manual input required.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8776" y="1389888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08776" y="1389888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1481328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Ops Alert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9944" y="1892808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notification to the Operations SOS queue. Response SLA is tracked per incident.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3200400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3200400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329184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Escalation Workflow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703320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path: Ops → external authorities. Ministry of Interior: manual process at MVP (direct integration is aspirational).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64408" y="3200400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64408" y="3200400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5576" y="329184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Trip Sharing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65576" y="3703320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can share a real-time tracking link with trusted contacts at any point during the trip.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08776" y="3200400"/>
            <a:ext cx="2724912" cy="162763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CC0033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3200400"/>
            <a:ext cx="64008" cy="162763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9944" y="3291840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Incident Logging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9944" y="3703320"/>
            <a:ext cx="23957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SOS events are logged with full context. Post-incident follow-up is tracked through to closure.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0"/>
            <a:ext cx="8458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Cross-Cutting Capabilities — Notifications &amp; Reporting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47472" y="86868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Notifications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7472" y="1353312"/>
            <a:ext cx="406908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353312"/>
            <a:ext cx="64008" cy="35478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4475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— foundational for OTP delivery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85623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— Rider + Driver apps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26771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notifications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67919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channel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management — Arabic + English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50215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tracking + automatic retry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91363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preferences for non-critical messages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32511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Critical-alert priority — bypasses quiet hours for SOS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86868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2B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 &amp; Analytics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73168" y="1353312"/>
            <a:ext cx="406908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73168" y="1353312"/>
            <a:ext cx="64008" cy="3547872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4336" y="144475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operational dashboard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74336" y="185623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+ weekly ride summary reports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74336" y="226771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performance report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74336" y="267919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analytics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74336" y="309067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reconciliation report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74336" y="350215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incident report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74336" y="391363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performance report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74336" y="4325112"/>
            <a:ext cx="3749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KPI dashboard + CSV/Excel export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Not in This Phase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deferred to keep delivery focused and the MVP shippable. All items below are post-MVP candidates.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47472" y="1170432"/>
            <a:ext cx="4096512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7472" y="1170432"/>
            <a:ext cx="4096512" cy="64008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618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2B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in MVP  —  Ride Types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733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pooling / shared rides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30352" y="1984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&amp; recurring rides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0352" y="229514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Intercity / hourly / rental models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0352" y="26060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or family-plus service tiers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36592" y="1170432"/>
            <a:ext cx="4096512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36592" y="1170432"/>
            <a:ext cx="4096512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2618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in MVP  —  Payments &amp; Finance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19472" y="16733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rider + driver wallets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19472" y="1984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driver payouts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19472" y="229514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codes, discounts &amp; referrals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919472" y="26060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billing / multiple PSPs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7472" y="2999232"/>
            <a:ext cx="4096512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7472" y="2999232"/>
            <a:ext cx="4096512" cy="64008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30906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in MVP  —  Safety — Advanced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" y="35021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In-trip audio or video recording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30352" y="38130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scoring &amp; predictive safety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0352" y="412394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Ministry of Interior line (aspirational)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36592" y="2999232"/>
            <a:ext cx="4096512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36592" y="2999232"/>
            <a:ext cx="4096512" cy="640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3090672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in MVP  —  Platform Extensions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19472" y="35021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 / call-center booking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19472" y="38130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&amp; family accounts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19472" y="412394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operation (daytime-only at MVP)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19472" y="443484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campaign management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1645920"/>
            <a:ext cx="5029200" cy="5029200"/>
          </a:xfrm>
          <a:prstGeom prst="ellipse">
            <a:avLst/>
          </a:prstGeom>
          <a:solidFill>
            <a:srgbClr val="6B2BD9">
              <a:alpha val="15000"/>
            </a:srgbClr>
          </a:solidFill>
          <a:ln w="12700">
            <a:solidFill>
              <a:srgbClr val="6B2BD9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Considerations &amp; Open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2618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103327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Operating Hours TBD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" y="138988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daytime window is not yet confirmed. This affects driver scheduling, Ops staffing, and user expectations — needs to be defined before build.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64008" cy="1261872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7488" y="103327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 Supply at Launch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47488" y="138988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viability depends on sufficient verified female drivers per zone. Recruitment and onboarding must start well ahead of the rider launch date.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50008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350008"/>
            <a:ext cx="64008" cy="1261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242316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PSP Selection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" y="277977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PSP is integrated at MVP but the specific provider is not yet confirmed. API stability and contract must be validated before payment module build.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350008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2350008"/>
            <a:ext cx="64008" cy="12618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242316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Verification Provider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47488" y="277977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liveness, and face-match depend on a third-party provider. Selection, commercial terms, and integration timeline need early confirmation.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739896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739896"/>
            <a:ext cx="64008" cy="1261872"/>
          </a:xfrm>
          <a:prstGeom prst="rect">
            <a:avLst/>
          </a:prstGeom>
          <a:solidFill>
            <a:srgbClr val="CC0033"/>
          </a:solidFill>
          <a:ln w="12700">
            <a:solidFill>
              <a:srgbClr val="CC00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" y="381304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Ministry of Interior Integration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" y="41696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SOS line to MoI is aspirational — not in MVP. At launch, escalation is a manual Ops process. This must be clearly communicated to all stakeholders.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739896"/>
            <a:ext cx="4224528" cy="1261872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3739896"/>
            <a:ext cx="64008" cy="12618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81304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 Settlement Process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47488" y="416966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payouts are manual and operational in MVP — not automated. Finance must have a defined reconciliation workflow ready before go-live.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MVP — What Comes Next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is a foundation, not the ceiling. These capabilities are staged for subsequent phases.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724912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724912" cy="512064"/>
          </a:xfrm>
          <a:prstGeom prst="rect">
            <a:avLst/>
          </a:prstGeom>
          <a:solidFill>
            <a:srgbClr val="6B2BD9"/>
          </a:solidFill>
          <a:ln w="12700">
            <a:solidFill>
              <a:srgbClr val="6B2B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70432"/>
            <a:ext cx="27249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1208" y="1783080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operating hours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" y="2350008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in-vehicle camera monitoring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" y="2916936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Ministry of Interior SOS line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" y="348386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expansion — additional governorates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4050792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opt-in driver pool (liquidity lever)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27832" y="1170432"/>
            <a:ext cx="2724912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27832" y="1170432"/>
            <a:ext cx="2724912" cy="512064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27832" y="1170432"/>
            <a:ext cx="27249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1783080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rider + driver wallets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2350008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driver payouts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2916936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codes, referrals &amp; loyalty programme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29000" y="348386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&amp; recurring rides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4050792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/ family-plus service tiers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35624" y="1170432"/>
            <a:ext cx="2724912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35624" y="1170432"/>
            <a:ext cx="2724912" cy="5120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35624" y="1170432"/>
            <a:ext cx="27249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36792" y="1783080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safety risk scoring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36792" y="2350008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demand analytics + BI platform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36792" y="2916936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&amp; family / multi-user accounts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36792" y="348386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pooling / shared rides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6792" y="4050792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Multi-city + multi-currency expansion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097280"/>
            <a:ext cx="6400800" cy="6400800"/>
          </a:xfrm>
          <a:prstGeom prst="ellipse">
            <a:avLst/>
          </a:prstGeom>
          <a:solidFill>
            <a:srgbClr val="6B2BD9">
              <a:alpha val="22000"/>
            </a:srgbClr>
          </a:solidFill>
          <a:ln w="12700">
            <a:solidFill>
              <a:srgbClr val="6B2BD9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286000"/>
            <a:ext cx="3840480" cy="3840480"/>
          </a:xfrm>
          <a:prstGeom prst="ellipse">
            <a:avLst/>
          </a:prstGeom>
          <a:solidFill>
            <a:srgbClr val="D63AE2">
              <a:alpha val="17000"/>
            </a:srgbClr>
          </a:solidFill>
          <a:ln w="12700">
            <a:solidFill>
              <a:srgbClr val="D63AE2">
                <a:alpha val="1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572768"/>
            <a:ext cx="73152" cy="1920240"/>
          </a:xfrm>
          <a:prstGeom prst="rect">
            <a:avLst/>
          </a:prstGeom>
          <a:solidFill>
            <a:srgbClr val="D63AE2"/>
          </a:solidFill>
          <a:ln w="12700">
            <a:solidFill>
              <a:srgbClr val="D63A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32004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89888" y="320040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63AE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11480" y="15361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Safe. Trusted. Yours.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11480" y="226771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Egypt's women deserve a platform built for them.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114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Cairo  ·  MVP Release  ·  Phase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SheDrive — MVP Overview</dc:title>
  <dc:subject>PptxGenJS Presentation</dc:subject>
  <dc:creator>SheDrive</dc:creator>
  <cp:lastModifiedBy>SheDrive</cp:lastModifiedBy>
  <cp:revision>1</cp:revision>
  <dcterms:created xsi:type="dcterms:W3CDTF">2026-05-16T20:33:41Z</dcterms:created>
  <dcterms:modified xsi:type="dcterms:W3CDTF">2026-05-16T20:33:41Z</dcterms:modified>
</cp:coreProperties>
</file>