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6B2BD9">
              <a:alpha val="25000"/>
            </a:srgbClr>
          </a:solidFill>
          <a:ln w="12700">
            <a:solidFill>
              <a:srgbClr val="6B2BD9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645920"/>
            <a:ext cx="3657600" cy="3657600"/>
          </a:xfrm>
          <a:prstGeom prst="ellipse">
            <a:avLst/>
          </a:prstGeom>
          <a:solidFill>
            <a:srgbClr val="D63AE2">
              <a:alpha val="20000"/>
            </a:srgbClr>
          </a:solidFill>
          <a:ln w="12700">
            <a:solidFill>
              <a:srgbClr val="D63AE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17320"/>
            <a:ext cx="73152" cy="2286000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94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Egypt's Women-Only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Ride-Hailing Platform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Trust · Dignity — Built for Women, by Design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3547872"/>
            <a:ext cx="1600200" cy="36576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5478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RELEASE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4114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Cairo (Cairo + Giza)  ·  Daytime Operating Hours  ·  Phase 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are built for everyone — which means they're built for no one in particular.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64008" cy="352044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44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2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Female Riders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concerns — especially outside daylight hours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6243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assurance on driver identity or conduct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32826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support when travelling with children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94106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emergency mechanisms during a live trip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5880"/>
            <a:ext cx="64008" cy="3520440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444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Female Drivers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19659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Reluctance to operate in mixed-gender platforms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26243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about passenger conduct and personal safety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32826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misaligned with cultural and family expectations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0328" y="394106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women staying outside the ride-hailing economy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6B2BD9">
              <a:alpha val="22000"/>
            </a:srgbClr>
          </a:solidFill>
          <a:ln w="12700">
            <a:solidFill>
              <a:srgbClr val="6B2BD9">
                <a:alpha val="2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Market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2651760" cy="3749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B2BD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2651760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207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12064" y="1847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Underserved 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23957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trips per month in Cairo — yet female riders consistently report safety and trust gaps on existing platforms.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078992"/>
            <a:ext cx="2651760" cy="3749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B2BD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078992"/>
            <a:ext cx="2651760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07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92424" y="1847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Constrained Supply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23957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female drivers are willing to work but held back by mixed-gender environments that don't align with their needs.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1078992"/>
            <a:ext cx="2651760" cy="3749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B2BD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1078992"/>
            <a:ext cx="2651760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207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72784" y="1847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Purpose-Built Answer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23957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player in Egypt combines women-only eligibility, verified identity, child-ride support, and dual payment rails in one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SheDrive 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safety-first, women-only ride-hailing platform — verified, bilingual, and designed around how women in Egypt actually travel.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89888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755648"/>
            <a:ext cx="475488" cy="475488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4712" y="14813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Women-Only Ecosystem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189280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riders and drivers are verified women. Eligibility is enforced from registration through every single trip — not a setting, a rule.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6592" y="1389888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01184" y="175564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13832" y="14813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Identities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13832" y="189280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OCR, liveness detection, face match, and background checks for every driver — completed before their first ride.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999232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" y="3364992"/>
            <a:ext cx="475488" cy="475488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4712" y="309067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Child-Friendly Rides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4712" y="350215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12 can travel with a declared female rider. Explicit policies and safety rules — not an afterthought.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2999232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01184" y="33649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$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13832" y="309067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+ Digital Payments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13832" y="350215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cash and digital card payments from day one — aligned with Cairo's real-world payment behaviour.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5029200" cy="5029200"/>
          </a:xfrm>
          <a:prstGeom prst="ellipse">
            <a:avLst/>
          </a:prstGeom>
          <a:solidFill>
            <a:srgbClr val="D63AE2">
              <a:alpha val="15000"/>
            </a:srgbClr>
          </a:solidFill>
          <a:ln w="12700">
            <a:solidFill>
              <a:srgbClr val="D63AE2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 the Product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SheDrive's advantage is structural safety — not a feature checkbox.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2651760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89888"/>
            <a:ext cx="2651760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536192"/>
            <a:ext cx="10972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In-Vehicle Cameras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487168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 footage accessible during emergencies. Active monitoring is validated and activated in Phase 2, once the operational infrastructure is in place.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7832" y="1389888"/>
            <a:ext cx="2651760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389888"/>
            <a:ext cx="2651760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536192"/>
            <a:ext cx="10972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6499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 Emergency Response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487168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in both apps alerts her saved emergency contacts with a live location link, captures the full trip context, and opens a case for admin review.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08192" y="1389888"/>
            <a:ext cx="2651760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1389888"/>
            <a:ext cx="2651760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1536192"/>
            <a:ext cx="10972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First-Aid Trained Drivers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5352" y="2487168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onboarding includes a first-aid readiness requirement. Certification is tracked and verified before a driver is activated on the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697480" cy="64008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97280"/>
            <a:ext cx="731520" cy="73152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 Riders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18+ · Egyptian National ID verified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rides with map-based pickup &amp; destination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with children under 12 (declared)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36027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or digital card payment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3986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trip sharing + trusted contacts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4370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SOS with real-time Ops alert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14400"/>
            <a:ext cx="2697480" cy="64008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1097280"/>
            <a:ext cx="731520" cy="73152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64992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 Drivers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64992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3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· Verified · Background-checked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Own-vehicle operation — no fleet dependency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multi-step onboarding &amp; approval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1568" y="36027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 + cash balance tracker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3986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via deep-link to external maps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4370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SOS on equal footing with riders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9144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914400"/>
            <a:ext cx="2697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68312" y="1097280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⚙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45352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&amp; Admin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45352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· Back-office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ride monitoring + driver queue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81928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onboarding approval workflow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81928" y="36027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queue + escalation SLA tracking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3986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reconciliation + manual refunds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928" y="4370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pricing &amp; commission 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74320"/>
            <a:ext cx="3840480" cy="3840480"/>
          </a:xfrm>
          <a:prstGeom prst="ellipse">
            <a:avLst/>
          </a:prstGeom>
          <a:solidFill>
            <a:srgbClr val="6B2BD9">
              <a:alpha val="18000"/>
            </a:srgbClr>
          </a:solidFill>
          <a:ln w="12700">
            <a:solidFill>
              <a:srgbClr val="6B2BD9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 Footprint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269748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64008" cy="173736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Greater Cairo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+ Giza — neighborhood-level zone coverage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1078992"/>
            <a:ext cx="269748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1078992"/>
            <a:ext cx="64008" cy="1737360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56432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Daytime Only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20116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window TBD by Operations — 24/7 deferred to Phase 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078992"/>
            <a:ext cx="269748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1078992"/>
            <a:ext cx="64008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64224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Vehicle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4224" y="20116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 not own or lease vehicles — drivers use their own cars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017520"/>
            <a:ext cx="269748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01752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 18+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3950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National ID verified — children under 12 permitted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55264" y="3017520"/>
            <a:ext cx="269748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55264" y="301752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56432" y="3429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+ Card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56432" y="3950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PSP for digital; cash via dual confirmation — wallets post-MVP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63056" y="3017520"/>
            <a:ext cx="269748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301752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64224" y="3429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Surfaces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64224" y="3950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 · Driver App · Admin &amp; Operations Portal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 — 10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64592" y="77724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SURFACES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64592" y="1033272"/>
            <a:ext cx="8823960" cy="0"/>
          </a:xfrm>
          <a:prstGeom prst="line">
            <a:avLst/>
          </a:prstGeom>
          <a:noFill/>
          <a:ln w="9525">
            <a:solidFill>
              <a:srgbClr val="6B2BD9">
                <a:alpha val="55000"/>
              </a:srgbClr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64592" y="230428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3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CAPABILITIES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4592" y="2560320"/>
            <a:ext cx="8823960" cy="0"/>
          </a:xfrm>
          <a:prstGeom prst="line">
            <a:avLst/>
          </a:prstGeom>
          <a:noFill/>
          <a:ln w="9525">
            <a:solidFill>
              <a:srgbClr val="D63AE2">
                <a:alpha val="55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64592" y="41879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4443984"/>
            <a:ext cx="8823960" cy="0"/>
          </a:xfrm>
          <a:prstGeom prst="line">
            <a:avLst/>
          </a:prstGeom>
          <a:noFill/>
          <a:ln w="9525">
            <a:solidFill>
              <a:srgbClr val="0891B2">
                <a:alpha val="55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2724912" cy="91440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1115568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App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2724912" cy="91440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115568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6208" y="1115568"/>
            <a:ext cx="2724912" cy="91440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115568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Ops Portal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633472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3A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633472"/>
            <a:ext cx="1627632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697480"/>
            <a:ext cx="1627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75104" y="2633472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3A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75104" y="2633472"/>
            <a:ext cx="1627632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75104" y="2697480"/>
            <a:ext cx="1627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Digital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2633472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3A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2633472"/>
            <a:ext cx="1627632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697480"/>
            <a:ext cx="1627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Dispatch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22976" y="2633472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3A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2633472"/>
            <a:ext cx="1627632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2697480"/>
            <a:ext cx="1627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96912" y="2633472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3A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96912" y="2633472"/>
            <a:ext cx="1627632" cy="548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6912" y="2697480"/>
            <a:ext cx="1627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19072" y="4315968"/>
            <a:ext cx="2788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19072" y="431596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65192" y="4315968"/>
            <a:ext cx="2788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65192" y="431596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— Rider App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Booking · Tracking · Payment · Safety · Feedback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OTP registration &amp; login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847088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+ selfie identity verification (once, before first trip)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2322576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pickup &amp; destination selection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2798064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883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estimate before confirming booking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3273552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accompaniment declaration (under 12)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749040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selection — Cash or Digital card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4224528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request submission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4700016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driver tracking on map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261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communication — masked call / chat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847088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cancellation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2322576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display + payment completion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798064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6883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feedback after trip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273552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history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 ⇄  English language switch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4224528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trip sharing (shareable link)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54880" y="4700016"/>
            <a:ext cx="182880" cy="182880"/>
          </a:xfrm>
          <a:prstGeom prst="ellipse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 management + SOS button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— Driver App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Availability · Ride Handling · Earnings · Safety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+ identity verification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847088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license upload &amp; validation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2322576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document submission (own vehicle)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2798064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883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 consent flow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3273552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status tracker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749040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Offline availability toggle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4224528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zone selection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4700016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request handling — accept / decline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261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deep-link (Google / Apple Maps)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847088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lifecycle controls — Arrived, Start, End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2322576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collection confirmation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798064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6883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status visibility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273552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 ledger — amount owed to platform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4224528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rating view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54880" y="4700016"/>
            <a:ext cx="182880" cy="182880"/>
          </a:xfrm>
          <a:prstGeom prst="ellipse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communication + SOS button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 — Admin &amp; Operations Portal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Support · Finance · Compliance — English UI (MVP)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login + Role-Based Access Control (5 roles)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84708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dashboard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232257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onboarding queue — review, approve, reject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27980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883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&amp; driver account management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327355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ride monitoring (map + state)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74904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detail &amp; history search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422452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incident management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470001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queue + escalation workflow + SLA tracker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261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/ zone management (polygon editor)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84708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 configuration per zone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232257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+ commission configuration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7980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6883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reconciliation workflow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27355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refund processing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management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422452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54880" y="470001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template management (AR + EN)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engines powering the ride cycle — invisible to users, critical to operations.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0965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4096512" cy="64008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Verification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OCR + validity &amp; duplicate check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 + face match (selfie vs ID)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gender eligibility enforcement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+ vehicle document verification (drivers)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 provider 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40965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15568"/>
            <a:ext cx="40965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 — Cash + Digital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9105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PSP + card tokenization + saved cards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capture for digital trips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recording via dual rider/driver confirmation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35915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cash balance ledger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61518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calculation + cash settlement 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40965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99232"/>
            <a:ext cx="4096512" cy="64008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 &amp; Dispatch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Driver–rider matching algorithm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Zone-aware eligibility filtering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8678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with timeout + automatic reassignment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24281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state machine (7 states)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9884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driver location streaming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99232"/>
            <a:ext cx="40965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99232"/>
            <a:ext cx="409651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Neighborhood Zones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47472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Polygon-based zone definition (map editor)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73075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Per-zone base fare / per-km / per-min rates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98678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fare + zone-to-zone pricing rules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424281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fee rules per zone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49884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 versioning — audit trail + rollback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D63AE2">
              <a:alpha val="15000"/>
            </a:srgbClr>
          </a:solidFill>
          <a:ln w="12700">
            <a:solidFill>
              <a:srgbClr val="D63AE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8 — Safety &amp; 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a first-class module — every SOS is captured, recorded and reviewed.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24912" cy="1627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3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162763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813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 Button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89280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both Rider and Driver apps. One tap alerts her contacts and records the incident.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389888"/>
            <a:ext cx="2724912" cy="1627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3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389888"/>
            <a:ext cx="64008" cy="162763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4813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Data Capture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65576" y="189280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trip snapshot, user &amp; vehicle details captured instantly on trigger — no manual input required.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389888"/>
            <a:ext cx="2724912" cy="1627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33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389888"/>
            <a:ext cx="64008" cy="162763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4813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Contacts Alerted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9944" y="189280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saved emergency contacts are alerted with a live location link. Public emergency numbers (122 / 123) are one tap away.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2724912" cy="1627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3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00400"/>
            <a:ext cx="64008" cy="162763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2918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Workflow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70332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SOS raises a case in the admin portal for review. It is a review queue, not a staffed emergency desk — no response time is implied.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64408" y="3200400"/>
            <a:ext cx="2724912" cy="1627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3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4408" y="3200400"/>
            <a:ext cx="64008" cy="162763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32918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Trip Sharing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65576" y="370332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can share a real-time tracking link with trusted contacts at any point during the trip.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08776" y="3200400"/>
            <a:ext cx="2724912" cy="1627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33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3200400"/>
            <a:ext cx="64008" cy="162763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32918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Logging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9944" y="370332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SOS events are logged with full context. Post-incident follow-up is tracked through to closure.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Capabilities — Notifications &amp; Reporting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868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0690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53312"/>
            <a:ext cx="64008" cy="3547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foundational for OTP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— Rider + Driver apps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channel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management — Arabic + English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021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 + automatic retry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1363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for non-critical messages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2511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Critical-alert priority — bypasses quiet hours for 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868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2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Analytics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73168" y="1353312"/>
            <a:ext cx="40690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1353312"/>
            <a:ext cx="64008" cy="3547872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14447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185623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weekly ride summary reports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74336" y="226771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performance report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267919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analytics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30906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reconciliation 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74336" y="35021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 report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74336" y="391363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performance 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74336" y="432511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KPI dashboard + CSV/Excel export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Not in This Phase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deferred to keep delivery focused and the MVP shippable. All items below are post-MVP candidates.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409651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70432"/>
            <a:ext cx="4096512" cy="64008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 MVP  —  Ride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73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pooling / shared rides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9842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&amp; recurring rides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2951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/ hourly / rental models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or family-plus service tiers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36592" y="1170432"/>
            <a:ext cx="409651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170432"/>
            <a:ext cx="40965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 MVP  —  Payments &amp; Finance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1673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rider + driver wallets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9472" y="19842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driver payouts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9472" y="22951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codes, discounts &amp; referrals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9472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billing / multiple PSPs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409651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999232"/>
            <a:ext cx="4096512" cy="64008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 MVP  —  Safety — Advanced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35021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In-trip audio or video recording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3813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 &amp; predictive safety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" y="41239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Staffed 24/7 safety operations desk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36592" y="2999232"/>
            <a:ext cx="409651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999232"/>
            <a:ext cx="409651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 MVP  —  Platform Extensions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35021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/ call-center booking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19472" y="3813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family accounts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19472" y="41239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operation (daytime-only at MVP)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9472" y="4434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645920"/>
            <a:ext cx="5029200" cy="5029200"/>
          </a:xfrm>
          <a:prstGeom prst="ellipse">
            <a:avLst/>
          </a:prstGeom>
          <a:solidFill>
            <a:srgbClr val="6B2BD9">
              <a:alpha val="15000"/>
            </a:srgbClr>
          </a:solidFill>
          <a:ln w="12700">
            <a:solidFill>
              <a:srgbClr val="6B2BD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Considerations &amp; Open Items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24528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332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Hours TBD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" y="13898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daytime window is not yet confirmed. This affects driver scheduling, Ops staffing, and user expectations — needs to be defined before build.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24528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60120"/>
            <a:ext cx="64008" cy="1261872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332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Supply at Launch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47488" y="13898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viability depends on sufficient verified female drivers per zone. Recruitment and onboarding must start well ahead of the rider launch date.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4224528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50008"/>
            <a:ext cx="64008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4231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PSP Selection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" y="277977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PSP is integrated at MVP but the specific provider is not yet confirmed. API stability and contract must be validated before payment module build.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350008"/>
            <a:ext cx="4224528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350008"/>
            <a:ext cx="64008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4231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Verification Provider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47488" y="277977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liveness, and face-match depend on a third-party provider. Selection, commercial terms, and integration timeline need early confirmation.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39896"/>
            <a:ext cx="4224528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39896"/>
            <a:ext cx="64008" cy="126187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813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0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 Gateway Provider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" y="41696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 reach a rider’s or driver’s emergency contacts by SMS. No supplier is contracted yet — selection, per-message cost and delivery reporting must be settled before the safety module is complete.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739896"/>
            <a:ext cx="4224528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739896"/>
            <a:ext cx="64008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813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Settlement Process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47488" y="41696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payouts are manual and operational in MVP — not automated. Finance must have a defined reconciliation workflow ready before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MVP — What Comes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a foundation, not the ceiling. These capabilities are staged for subsequent phases.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724912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724912" cy="512064"/>
          </a:xfrm>
          <a:prstGeom prst="rect">
            <a:avLst/>
          </a:prstGeom>
          <a:solidFill>
            <a:srgbClr val="6B2BD9"/>
          </a:solidFill>
          <a:ln w="12700">
            <a:solidFill>
              <a:srgbClr val="6B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" y="17830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operating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235000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in-vehicle camera monitoring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91693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Staffed safety operations desk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348386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expansion — additional governorates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405079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opt-in driver pool (liquidity lever)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170432"/>
            <a:ext cx="2724912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170432"/>
            <a:ext cx="2724912" cy="512064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70432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rider + driver wallets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35000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driver payouts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91693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codes, referrals &amp; loyalty programme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48386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&amp; recurring rides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405079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family-plus service tiers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35624" y="1170432"/>
            <a:ext cx="2724912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1170432"/>
            <a:ext cx="2724912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1170432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6792" y="17830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safety risk scoring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6792" y="235000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analytics + BI platform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291693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family / multi-user accounts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348386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pooling / shared rides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405079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+ multi-currency expansion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6400800" cy="6400800"/>
          </a:xfrm>
          <a:prstGeom prst="ellipse">
            <a:avLst/>
          </a:prstGeom>
          <a:solidFill>
            <a:srgbClr val="6B2BD9">
              <a:alpha val="22000"/>
            </a:srgbClr>
          </a:solidFill>
          <a:ln w="12700">
            <a:solidFill>
              <a:srgbClr val="6B2BD9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840480" cy="3840480"/>
          </a:xfrm>
          <a:prstGeom prst="ellipse">
            <a:avLst/>
          </a:prstGeom>
          <a:solidFill>
            <a:srgbClr val="D63AE2">
              <a:alpha val="17000"/>
            </a:srgbClr>
          </a:solidFill>
          <a:ln w="12700">
            <a:solidFill>
              <a:srgbClr val="D63AE2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72768"/>
            <a:ext cx="73152" cy="1920240"/>
          </a:xfrm>
          <a:prstGeom prst="rect">
            <a:avLst/>
          </a:prstGeom>
          <a:solidFill>
            <a:srgbClr val="D63AE2"/>
          </a:solidFill>
          <a:ln w="12700">
            <a:solidFill>
              <a:srgbClr val="D63A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89888" y="3200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3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Safe. Trusted. Yours.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women deserve a platform built for them.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498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Cairo  ·  MVP Release  ·  Phase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SheDrive — MVP Overview</dc:title>
  <dc:subject>PptxGenJS Presentation</dc:subject>
  <dc:creator>SheDrive</dc:creator>
  <cp:lastModifiedBy>SheDrive</cp:lastModifiedBy>
  <cp:revision>1</cp:revision>
  <dcterms:created xsi:type="dcterms:W3CDTF">2026-05-16T20:33:41Z</dcterms:created>
  <dcterms:modified xsi:type="dcterms:W3CDTF">2026-05-16T20:33:41Z</dcterms:modified>
</cp:coreProperties>
</file>